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10"/>
  </p:normalViewPr>
  <p:slideViewPr>
    <p:cSldViewPr snapToGrid="0" snapToObjects="1">
      <p:cViewPr>
        <p:scale>
          <a:sx n="118" d="100"/>
          <a:sy n="118" d="100"/>
        </p:scale>
        <p:origin x="470" y="-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899BB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8899BB"/>
                </a:solidFill>
                <a:latin typeface="Arial"/>
              </a:rPr>
              <a:t>Cost per km (₹ Lakhs)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km (₹ Lakhs)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F5-45C9-A1BB-95BC9E403826}"/>
              </c:ext>
            </c:extLst>
          </c:dPt>
          <c:dPt>
            <c:idx val="1"/>
            <c:invertIfNegative val="0"/>
            <c:bubble3D val="0"/>
            <c:spPr>
              <a:solidFill>
                <a:srgbClr val="8899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F5-45C9-A1BB-95BC9E403826}"/>
              </c:ext>
            </c:extLst>
          </c:dPt>
          <c:dPt>
            <c:idx val="2"/>
            <c:invertIfNegative val="0"/>
            <c:bubble3D val="0"/>
            <c:spPr>
              <a:solidFill>
                <a:srgbClr val="8899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F5-45C9-A1BB-95BC9E403826}"/>
              </c:ext>
            </c:extLst>
          </c:dPt>
          <c:dPt>
            <c:idx val="3"/>
            <c:invertIfNegative val="0"/>
            <c:bubble3D val="0"/>
            <c:spPr>
              <a:solidFill>
                <a:srgbClr val="8899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F5-45C9-A1BB-95BC9E403826}"/>
              </c:ext>
            </c:extLst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6F5-45C9-A1BB-95BC9E40382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RAKSHA-NETRA</c:v>
                </c:pt>
                <c:pt idx="1">
                  <c:v>Loop Detectors</c:v>
                </c:pt>
                <c:pt idx="2">
                  <c:v>Optical Fibre</c:v>
                </c:pt>
                <c:pt idx="3">
                  <c:v>CCTV Network</c:v>
                </c:pt>
                <c:pt idx="4">
                  <c:v>Radar Systems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0.36</c:v>
                </c:pt>
                <c:pt idx="1">
                  <c:v>5</c:v>
                </c:pt>
                <c:pt idx="2">
                  <c:v>12</c:v>
                </c:pt>
                <c:pt idx="3">
                  <c:v>25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6F5-45C9-A1BB-95BC9E4038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C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1B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26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10515600" cy="73152"/>
          </a:xfrm>
          <a:prstGeom prst="rect">
            <a:avLst/>
          </a:prstGeom>
          <a:solidFill>
            <a:srgbClr val="FF6B35">
              <a:alpha val="40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11880"/>
            <a:ext cx="10515600" cy="36576"/>
          </a:xfrm>
          <a:prstGeom prst="rect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502920"/>
            <a:ext cx="1920240" cy="1920240"/>
          </a:xfrm>
          <a:prstGeom prst="ellipse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858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6400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RAKSHA-NETRA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2377440" y="1600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Railway Track Obstruction Detection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377440" y="228600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77440" y="2286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· Edge-AI · LoRa Mesh · Auto-Braking · &lt;1 Second Response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38404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00C9B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3858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Time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38404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00C9B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74720" y="3858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167×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47472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Radar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8404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00C9B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17920" y="3858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₹36K/km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21792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Cost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Software Simulator — No Hardware Required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CRISIS ON INDIA'S TRACKS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68,000 km of railway. Thousands of unguarded level crossings. Lives lost every day.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131B2E"/>
          </a:solidFill>
          <a:ln w="12700">
            <a:solidFill>
              <a:srgbClr val="E74C3C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5087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148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16,000+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278892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accidents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in India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14600" y="137160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131B2E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5087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4600" y="2148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300+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2514600" y="278892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from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obstructions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63440" y="137160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131B2E"/>
          </a:solidFill>
          <a:ln w="12700">
            <a:solidFill>
              <a:srgbClr val="FFD166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5087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2148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3–15s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4663440" y="278892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 speed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812280" y="137160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131B2E"/>
          </a:solidFill>
          <a:ln w="12700">
            <a:solidFill>
              <a:srgbClr val="88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50876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2148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899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3"/>
          <p:cNvSpPr/>
          <p:nvPr/>
        </p:nvSpPr>
        <p:spPr>
          <a:xfrm>
            <a:off x="6812280" y="278892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deployed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65760" y="406908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0F2044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5196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4114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(radar, CCTV, manual patrolling) are either too expensive (₹50L/km), too slow,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inaccessible in remote areas with no power or cellular — leaving vast stretches unguarded.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RAKSHA-NETRA: OUR SOLUTION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860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058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A254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15568"/>
            <a:ext cx="411480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11155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Fusion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1600200"/>
            <a:ext cx="246888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+ PIR + Vibration + Camera — eliminates false positives through layered confirmation logic.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3200400" y="10058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A2540"/>
          </a:solidFill>
          <a:ln w="12700">
            <a:solidFill>
              <a:srgbClr val="FFD166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115568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94760" y="11155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Classifier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291840" y="1600200"/>
            <a:ext cx="246888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(TFLite Micro, INT8 MobileNetV2) on ESP32-CAM. Classifies cow, boulder, human, vehicle on-device in &lt;1s.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035040" y="10058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A2540"/>
          </a:solidFill>
          <a:ln w="12700">
            <a:solidFill>
              <a:srgbClr val="00C9B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115568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29400" y="11155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Mesh Network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6126480" y="1600200"/>
            <a:ext cx="246888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SX1278 LoRa radio — no cellular, no WiFi needed. Packets hop across nodes to reach the station master.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365760" y="2971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A2540"/>
          </a:solidFill>
          <a:ln w="12700">
            <a:solidFill>
              <a:srgbClr val="2ECC7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081528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30815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Battery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57200" y="3566160"/>
            <a:ext cx="246888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self-powered. Works in remote, powerless stretches. Designed for 24/7 unattended operation.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3200400" y="2971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A254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081528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794760" y="30815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Emergency Braking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3291840" y="3566160"/>
            <a:ext cx="246888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signal sent directly to train control. Loco pilot receives HUD alert + audio alarm simultaneously.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6035040" y="2971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A2540"/>
          </a:solidFill>
          <a:ln w="12700">
            <a:solidFill>
              <a:srgbClr val="00C9B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3081528"/>
            <a:ext cx="411480" cy="4114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629400" y="30815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Alert System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6126480" y="3566160"/>
            <a:ext cx="246888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Master Dashboard (network map, telemetry) + Loco Pilot App (phone HUD, distance countdown).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DETECTION-TO-BRAKING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 under 1 second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1A2540"/>
          </a:solidFill>
          <a:ln w="19050">
            <a:solidFill>
              <a:srgbClr val="FF6B35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618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91056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27632" y="1783080"/>
            <a:ext cx="109728" cy="54864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25786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 Sensor Loop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" y="303580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position &amp; distance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monitored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783080" y="123444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1A2540"/>
          </a:solidFill>
          <a:ln w="19050">
            <a:solidFill>
              <a:srgbClr val="FFD166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783080" y="12618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128" y="1591056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044952" y="1783080"/>
            <a:ext cx="109728" cy="54864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737360" y="25786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737360" y="303580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+ PIR + Vibration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for confidence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200400" y="123444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1A2540"/>
          </a:solidFill>
          <a:ln w="19050">
            <a:solidFill>
              <a:srgbClr val="00C9B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200400" y="12618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1591056"/>
            <a:ext cx="457200" cy="4572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462272" y="1783080"/>
            <a:ext cx="109728" cy="54864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154680" y="25786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Classifier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154680" y="303580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AI confirms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type &amp; confidence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4617720" y="123444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1A2540"/>
          </a:solidFill>
          <a:ln w="19050">
            <a:solidFill>
              <a:srgbClr val="FF6B35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617720" y="12618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1591056"/>
            <a:ext cx="457200" cy="4572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879592" y="1783080"/>
            <a:ext cx="109728" cy="54864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0" y="25786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Broadcast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72000" y="303580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packet hops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mesh to station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6035040" y="123444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1A2540"/>
          </a:solidFill>
          <a:ln w="19050">
            <a:solidFill>
              <a:srgbClr val="FFD166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6035040" y="12618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1591056"/>
            <a:ext cx="457200" cy="45720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7296912" y="1783080"/>
            <a:ext cx="109728" cy="54864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989320" y="25786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Alert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989320" y="303580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dashboard +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 pilot HUD alarm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7452360" y="123444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1A2540"/>
          </a:solidFill>
          <a:ln w="19050">
            <a:solidFill>
              <a:srgbClr val="2ECC7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7452360" y="12618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6408" y="1591056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406640" y="25786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Auto-Brake Triggered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7406640" y="303580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Deceleration curve stops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before collision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365760" y="37490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131B2E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59436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Fusion Logic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594360" y="4187952"/>
            <a:ext cx="8046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Ultrasonic only                   →  Possible rain/bird    →  IGNORE</a:t>
            </a:r>
            <a:endParaRPr lang="en-US" sz="850" dirty="0"/>
          </a:p>
        </p:txBody>
      </p:sp>
      <p:sp>
        <p:nvSpPr>
          <p:cNvPr id="42" name="Text 34"/>
          <p:cNvSpPr/>
          <p:nvPr/>
        </p:nvSpPr>
        <p:spPr>
          <a:xfrm>
            <a:off x="594360" y="4361688"/>
            <a:ext cx="8046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Ultrasonic + PIR                  →  Possible debris        →  CAUTION</a:t>
            </a:r>
            <a:endParaRPr lang="en-US" sz="850" dirty="0"/>
          </a:p>
        </p:txBody>
      </p:sp>
      <p:sp>
        <p:nvSpPr>
          <p:cNvPr id="43" name="Text 35"/>
          <p:cNvSpPr/>
          <p:nvPr/>
        </p:nvSpPr>
        <p:spPr>
          <a:xfrm>
            <a:off x="594360" y="4535424"/>
            <a:ext cx="8046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Ultrasonic + PIR + Vibration      →  Physical impact        →  ALERT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594360" y="4709160"/>
            <a:ext cx="8046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sensors + Camera AI confirm  →  High-confidence object →  ACT ⚡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physical design — each node costs ~₹3,000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1A254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3816" y="1280160"/>
            <a:ext cx="457200" cy="457200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8288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Layer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4320" y="2286000"/>
            <a:ext cx="1536192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HC-SR04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Motion Sensor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SW-420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93392" y="118872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1A2540"/>
          </a:solidFill>
          <a:ln w="12700">
            <a:solidFill>
              <a:srgbClr val="FFD166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32888" y="1280160"/>
            <a:ext cx="457200" cy="457200"/>
          </a:xfrm>
          <a:prstGeom prst="ellipse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1280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93392" y="18288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993392" y="2286000"/>
            <a:ext cx="1536192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Micro INT8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model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712464" y="118872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1A2540"/>
          </a:solidFill>
          <a:ln w="12700">
            <a:solidFill>
              <a:srgbClr val="00C9B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51960" y="1280160"/>
            <a:ext cx="457200" cy="457200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280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12464" y="18288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Layer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712464" y="2286000"/>
            <a:ext cx="1536192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SX1278 mesh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4G gateway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AWS IoT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431536" y="118872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1A2540"/>
          </a:solidFill>
          <a:ln w="12700">
            <a:solidFill>
              <a:srgbClr val="2ECC7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71032" y="1280160"/>
            <a:ext cx="457200" cy="457200"/>
          </a:xfrm>
          <a:prstGeom prst="ellipse">
            <a:avLst/>
          </a:prstGeom>
          <a:solidFill>
            <a:srgbClr val="2ECC71">
              <a:alpha val="25000"/>
            </a:srgbClr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032" y="12801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31536" y="18288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Layer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431536" y="2286000"/>
            <a:ext cx="1536192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12W Solar panel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battery bank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autonomous op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150608" y="118872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1A254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690104" y="1280160"/>
            <a:ext cx="457200" cy="457200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128016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50608" y="18288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 Layer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7150608" y="2286000"/>
            <a:ext cx="1536192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brake signal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Kavach/ETCS API bridge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 Pilot HUD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74320" y="397764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F2044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133088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97280" y="40233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 prototype node  ·  ₹36,000/km in production  ·  vs ₹50 lakh/km for radar  ·  167× cheaper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WORKING SIMULATOR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detection-to-braking pipeline in your browser — no hardware, no setup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3383280"/>
          </a:xfrm>
          <a:prstGeom prst="roundRect">
            <a:avLst>
              <a:gd name="adj" fmla="val 5085"/>
            </a:avLst>
          </a:prstGeom>
          <a:solidFill>
            <a:srgbClr val="131B2E"/>
          </a:solidFill>
          <a:ln w="19050">
            <a:solidFill>
              <a:srgbClr val="FF6B35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325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965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🛤️ Track Simulator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2514600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Miniature animated track with a moving train. Place obstacles (cow, boulder, human, vehicle) and watch the AI react in real time.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97480" cy="3383280"/>
          </a:xfrm>
          <a:prstGeom prst="roundRect">
            <a:avLst>
              <a:gd name="adj" fmla="val 5085"/>
            </a:avLst>
          </a:prstGeom>
          <a:solidFill>
            <a:srgbClr val="131B2E"/>
          </a:solidFill>
          <a:ln w="19050">
            <a:solidFill>
              <a:srgbClr val="00C9B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3258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46120" y="1965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Station Dashboard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37560" y="2468880"/>
            <a:ext cx="2514600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map, animated LoRa packet hops, live telemetry charts, and a rolling alert feed — exactly as a station master would see it.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188720"/>
            <a:ext cx="2697480" cy="3383280"/>
          </a:xfrm>
          <a:prstGeom prst="roundRect">
            <a:avLst>
              <a:gd name="adj" fmla="val 5085"/>
            </a:avLst>
          </a:prstGeom>
          <a:solidFill>
            <a:srgbClr val="131B2E"/>
          </a:solidFill>
          <a:ln w="19050">
            <a:solidFill>
              <a:srgbClr val="FFD166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13258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1965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Loco Pilot App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17920" y="2468880"/>
            <a:ext cx="2514600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Phone-style HUD with simulated camera image, distance countdown, Web Audio emergency alarm, and an Emergency Brake button.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65760" y="4709160"/>
            <a:ext cx="8412480" cy="338328"/>
          </a:xfrm>
          <a:prstGeom prst="roundRect">
            <a:avLst>
              <a:gd name="adj" fmla="val 21622"/>
            </a:avLst>
          </a:prstGeom>
          <a:solidFill>
            <a:srgbClr val="1A25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65760" y="4709160"/>
            <a:ext cx="8412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Vanilla HTML5 · CSS3 Glassmorphism · ES6 JS · Web Audio API  —  Single file, no build step, no backend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ound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200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365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Simulator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82880" y="100584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1A2540"/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1005840"/>
            <a:ext cx="2651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 real-time train motion loop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2880" y="1664208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1A2540"/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664208"/>
            <a:ext cx="2651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4 obstacle types: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· boulder · human · vehicle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82880" y="2322576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1A2540"/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322576"/>
            <a:ext cx="2651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zone → Confirm zone logic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82880" y="2980944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1A2540"/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980944"/>
            <a:ext cx="2651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distance meter countdown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82880" y="3639312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1A2540"/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3639312"/>
            <a:ext cx="2651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deceleration curve animation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82880" y="429768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1A2540"/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4297680"/>
            <a:ext cx="2651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readings update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 on screen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383280" y="274320"/>
            <a:ext cx="5486400" cy="4572000"/>
          </a:xfrm>
          <a:prstGeom prst="rect">
            <a:avLst/>
          </a:prstGeom>
          <a:solidFill>
            <a:srgbClr val="131B2E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TRACK SIMULATOR PREVIEW ]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566160" y="2194560"/>
            <a:ext cx="5120640" cy="54864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66160" y="2395728"/>
            <a:ext cx="5120640" cy="54864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749040" y="2121408"/>
            <a:ext cx="91440" cy="347472"/>
          </a:xfrm>
          <a:prstGeom prst="rect">
            <a:avLst/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79392" y="2121408"/>
            <a:ext cx="91440" cy="347472"/>
          </a:xfrm>
          <a:prstGeom prst="rect">
            <a:avLst/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09744" y="2121408"/>
            <a:ext cx="91440" cy="347472"/>
          </a:xfrm>
          <a:prstGeom prst="rect">
            <a:avLst/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40096" y="2121408"/>
            <a:ext cx="91440" cy="347472"/>
          </a:xfrm>
          <a:prstGeom prst="rect">
            <a:avLst/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70448" y="2121408"/>
            <a:ext cx="91440" cy="347472"/>
          </a:xfrm>
          <a:prstGeom prst="rect">
            <a:avLst/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2121408"/>
            <a:ext cx="91440" cy="347472"/>
          </a:xfrm>
          <a:prstGeom prst="rect">
            <a:avLst/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31152" y="2121408"/>
            <a:ext cx="91440" cy="347472"/>
          </a:xfrm>
          <a:prstGeom prst="rect">
            <a:avLst/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61504" y="2121408"/>
            <a:ext cx="91440" cy="347472"/>
          </a:xfrm>
          <a:prstGeom prst="rect">
            <a:avLst/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91856" y="2121408"/>
            <a:ext cx="91440" cy="347472"/>
          </a:xfrm>
          <a:prstGeom prst="rect">
            <a:avLst/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840480" y="1874520"/>
            <a:ext cx="914400" cy="685800"/>
          </a:xfrm>
          <a:prstGeom prst="roundRect">
            <a:avLst>
              <a:gd name="adj" fmla="val 6667"/>
            </a:avLst>
          </a:prstGeom>
          <a:solidFill>
            <a:srgbClr val="FF6B35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40480" y="18745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🚂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6766560" y="2011680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5120" y="199339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🐄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3474720" y="274320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E74C3C">
              <a:alpha val="3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74720" y="27432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OBSTRUCTION DETECTED — Cow — Confidence 94%  |  Distance: 180m  |  BRAKING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493008" y="3429000"/>
            <a:ext cx="1234440" cy="548640"/>
          </a:xfrm>
          <a:prstGeom prst="roundRect">
            <a:avLst>
              <a:gd name="adj" fmla="val 11667"/>
            </a:avLst>
          </a:prstGeom>
          <a:solidFill>
            <a:srgbClr val="1A254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493008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493008" y="3703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800600" y="3429000"/>
            <a:ext cx="1234440" cy="548640"/>
          </a:xfrm>
          <a:prstGeom prst="roundRect">
            <a:avLst>
              <a:gd name="adj" fmla="val 11667"/>
            </a:avLst>
          </a:prstGeom>
          <a:solidFill>
            <a:srgbClr val="1A25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00600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800600" y="3703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108192" y="3429000"/>
            <a:ext cx="1234440" cy="548640"/>
          </a:xfrm>
          <a:prstGeom prst="roundRect">
            <a:avLst>
              <a:gd name="adj" fmla="val 11667"/>
            </a:avLst>
          </a:prstGeom>
          <a:solidFill>
            <a:srgbClr val="1A254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08192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108192" y="3703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415784" y="3429000"/>
            <a:ext cx="1234440" cy="548640"/>
          </a:xfrm>
          <a:prstGeom prst="roundRect">
            <a:avLst>
              <a:gd name="adj" fmla="val 11667"/>
            </a:avLst>
          </a:prstGeom>
          <a:solidFill>
            <a:srgbClr val="1A254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15784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AI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415784" y="3703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92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 Master Dashboard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131B2E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 Map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14400" y="2011680"/>
            <a:ext cx="228600" cy="2286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2677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645920" y="1508760"/>
            <a:ext cx="228600" cy="2286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0200" y="17647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2377440" y="2194560"/>
            <a:ext cx="228600" cy="2286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31720" y="2450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108960" y="1600200"/>
            <a:ext cx="228600" cy="2286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63240" y="18562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931920" y="1920240"/>
            <a:ext cx="228600" cy="2286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86200" y="21762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1024128" y="2121408"/>
            <a:ext cx="731520" cy="0"/>
          </a:xfrm>
          <a:prstGeom prst="line">
            <a:avLst/>
          </a:prstGeom>
          <a:noFill/>
          <a:ln w="12700">
            <a:solidFill>
              <a:srgbClr val="00C9B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55648" y="1618488"/>
            <a:ext cx="731520" cy="685800"/>
          </a:xfrm>
          <a:prstGeom prst="line">
            <a:avLst/>
          </a:prstGeom>
          <a:noFill/>
          <a:ln w="12700">
            <a:solidFill>
              <a:srgbClr val="00C9B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87168" y="2304288"/>
            <a:ext cx="731520" cy="0"/>
          </a:xfrm>
          <a:prstGeom prst="line">
            <a:avLst/>
          </a:prstGeom>
          <a:noFill/>
          <a:ln w="12700">
            <a:solidFill>
              <a:srgbClr val="00C9B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18688" y="1709928"/>
            <a:ext cx="822960" cy="320040"/>
          </a:xfrm>
          <a:prstGeom prst="line">
            <a:avLst/>
          </a:prstGeom>
          <a:noFill/>
          <a:ln w="12700">
            <a:solidFill>
              <a:srgbClr val="00C9B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Node 3 — ALERT: Obstruction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0292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LoRa packet animated in real time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63440" y="100584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131B2E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 Feed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36592" y="1444752"/>
            <a:ext cx="3950208" cy="384048"/>
          </a:xfrm>
          <a:prstGeom prst="roundRect">
            <a:avLst>
              <a:gd name="adj" fmla="val 14286"/>
            </a:avLst>
          </a:prstGeom>
          <a:solidFill>
            <a:srgbClr val="1A2540"/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3168" y="14630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14:23:01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532120" y="1463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Node-3 | COW on track | Conf 94% | BRAKING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736592" y="1874520"/>
            <a:ext cx="3950208" cy="384048"/>
          </a:xfrm>
          <a:prstGeom prst="roundRect">
            <a:avLst>
              <a:gd name="adj" fmla="val 14286"/>
            </a:avLst>
          </a:prstGeom>
          <a:solidFill>
            <a:srgbClr val="1A2540"/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73168" y="18928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14:22:45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532120" y="1892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Node-5 | HUMAN detected | Conf 87% | ALERT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736592" y="2304288"/>
            <a:ext cx="3950208" cy="384048"/>
          </a:xfrm>
          <a:prstGeom prst="roundRect">
            <a:avLst>
              <a:gd name="adj" fmla="val 14286"/>
            </a:avLst>
          </a:prstGeom>
          <a:solidFill>
            <a:srgbClr val="1A2540"/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73168" y="232257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14:21:12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5532120" y="23225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Node-1 | Boulder | Conf 99% | RESOLVED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736592" y="2734056"/>
            <a:ext cx="3950208" cy="384048"/>
          </a:xfrm>
          <a:prstGeom prst="roundRect">
            <a:avLst>
              <a:gd name="adj" fmla="val 14286"/>
            </a:avLst>
          </a:prstGeom>
          <a:solidFill>
            <a:srgbClr val="1A2540"/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73168" y="275234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14:19:58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532120" y="27523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Node-2 | Vehicle | Conf 91% | RESOLVED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736592" y="3163824"/>
            <a:ext cx="3950208" cy="384048"/>
          </a:xfrm>
          <a:prstGeom prst="roundRect">
            <a:avLst>
              <a:gd name="adj" fmla="val 14286"/>
            </a:avLst>
          </a:prstGeom>
          <a:solidFill>
            <a:srgbClr val="1A2540"/>
          </a:solidFill>
          <a:ln w="1270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73168" y="31821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14:18:30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532120" y="31821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 check — all nodes OK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65760" y="388620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131B2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Live Telemetry Charts  —  Speed, Sensor Status, Alert Frequency all animated in real time across all nodes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54864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92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Loco Pilot App — HUD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2286000" cy="3840480"/>
          </a:xfrm>
          <a:prstGeom prst="roundRect">
            <a:avLst>
              <a:gd name="adj" fmla="val 10000"/>
            </a:avLst>
          </a:prstGeom>
          <a:solidFill>
            <a:srgbClr val="131B2E"/>
          </a:solidFill>
          <a:ln w="25400">
            <a:solidFill>
              <a:srgbClr val="FFD166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66928" y="1188720"/>
            <a:ext cx="2066544" cy="3474720"/>
          </a:xfrm>
          <a:prstGeom prst="rect">
            <a:avLst/>
          </a:prstGeom>
          <a:solidFill>
            <a:srgbClr val="050A12"/>
          </a:solidFill>
          <a:ln w="12700">
            <a:solidFill>
              <a:srgbClr val="050A1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2344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RAKSHA-NETRA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21792" y="1554480"/>
            <a:ext cx="1956816" cy="1097280"/>
          </a:xfrm>
          <a:prstGeom prst="rect">
            <a:avLst/>
          </a:prstGeom>
          <a:solidFill>
            <a:srgbClr val="0A152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1554480"/>
            <a:ext cx="1956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Camera Feed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[Cow detected on track]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66928" y="2697480"/>
            <a:ext cx="2066544" cy="411480"/>
          </a:xfrm>
          <a:prstGeom prst="rect">
            <a:avLst/>
          </a:prstGeom>
          <a:solidFill>
            <a:srgbClr val="E74C3C">
              <a:alpha val="5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26974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COW — 94%  BRAKE NOW!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" y="315468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180m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34564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72 km/h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13232" y="3767328"/>
            <a:ext cx="1773936" cy="594360"/>
          </a:xfrm>
          <a:prstGeom prst="roundRect">
            <a:avLst>
              <a:gd name="adj" fmla="val 18462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76732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EMERGENCY BRAKE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017520" y="1005840"/>
            <a:ext cx="5760720" cy="960120"/>
          </a:xfrm>
          <a:prstGeom prst="roundRect">
            <a:avLst>
              <a:gd name="adj" fmla="val 9524"/>
            </a:avLst>
          </a:prstGeom>
          <a:solidFill>
            <a:srgbClr val="1A2540"/>
          </a:solidFill>
          <a:ln w="12700">
            <a:solidFill>
              <a:srgbClr val="00C9B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115568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0" y="1097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Camera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57600" y="14173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AI camera frame with overlaid bounding box and confidence score label for the detected object.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017520" y="2057400"/>
            <a:ext cx="5760720" cy="960120"/>
          </a:xfrm>
          <a:prstGeom prst="roundRect">
            <a:avLst>
              <a:gd name="adj" fmla="val 9524"/>
            </a:avLst>
          </a:prstGeom>
          <a:solidFill>
            <a:srgbClr val="1A2540"/>
          </a:solidFill>
          <a:ln w="12700">
            <a:solidFill>
              <a:srgbClr val="FFD166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216712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5760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Countdown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657600" y="246888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countdown in metres as the train approaches the obstacle — updates at 10 Hz.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017520" y="3108960"/>
            <a:ext cx="5760720" cy="960120"/>
          </a:xfrm>
          <a:prstGeom prst="roundRect">
            <a:avLst>
              <a:gd name="adj" fmla="val 9524"/>
            </a:avLst>
          </a:prstGeom>
          <a:solidFill>
            <a:srgbClr val="1A254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3218688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65760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Alarm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3657600" y="352044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siren fires via Web Audio API — escalating frequency when braking is triggered.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017520" y="4160520"/>
            <a:ext cx="5760720" cy="960120"/>
          </a:xfrm>
          <a:prstGeom prst="roundRect">
            <a:avLst>
              <a:gd name="adj" fmla="val 9524"/>
            </a:avLst>
          </a:prstGeom>
          <a:solidFill>
            <a:srgbClr val="1A2540"/>
          </a:solidFill>
          <a:ln w="12700">
            <a:solidFill>
              <a:srgbClr val="2ECC7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4680" y="4270248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Auto-Brake Button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657600" y="457200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Emergency Brake button. Simulation plays out full deceleration curve to a stop.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6D0578-3CB4-C8F7-8658-CF9C75E60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4" y="4523"/>
            <a:ext cx="9007812" cy="51344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C8443E-89B0-8489-6B95-093250F095E5}"/>
              </a:ext>
            </a:extLst>
          </p:cNvPr>
          <p:cNvSpPr txBox="1"/>
          <p:nvPr/>
        </p:nvSpPr>
        <p:spPr>
          <a:xfrm>
            <a:off x="6147881" y="23978"/>
            <a:ext cx="1971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  <a:latin typeface="Algerian" panose="04020705040A02060702" pitchFamily="82" charset="0"/>
              </a:rPr>
              <a:t>ONLINE DASHBOARD</a:t>
            </a:r>
          </a:p>
        </p:txBody>
      </p:sp>
    </p:spTree>
    <p:extLst>
      <p:ext uri="{BB962C8B-B14F-4D97-AF65-F5344CB8AC3E}">
        <p14:creationId xmlns:p14="http://schemas.microsoft.com/office/powerpoint/2010/main" val="552388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167× cheaper than radar — without sacrificing performance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97280"/>
            <a:ext cx="1463040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10972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269480" y="1097280"/>
            <a:ext cx="1463040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69480" y="10972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RAKSHA-NETRA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778240" y="1097280"/>
            <a:ext cx="1463040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0" y="10972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60720" y="1600200"/>
            <a:ext cx="1463040" cy="475488"/>
          </a:xfrm>
          <a:prstGeom prst="rect">
            <a:avLst/>
          </a:prstGeom>
          <a:solidFill>
            <a:srgbClr val="1A2540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1600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Cost/km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269480" y="1600200"/>
            <a:ext cx="1463040" cy="475488"/>
          </a:xfrm>
          <a:prstGeom prst="rect">
            <a:avLst/>
          </a:prstGeom>
          <a:solidFill>
            <a:srgbClr val="1A2540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9480" y="1600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₹36,000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778240" y="1600200"/>
            <a:ext cx="1463040" cy="475488"/>
          </a:xfrm>
          <a:prstGeom prst="rect">
            <a:avLst/>
          </a:prstGeom>
          <a:solidFill>
            <a:srgbClr val="1A2540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0" y="1600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 Lakh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60720" y="2103120"/>
            <a:ext cx="1463040" cy="475488"/>
          </a:xfrm>
          <a:prstGeom prst="rect">
            <a:avLst/>
          </a:prstGeom>
          <a:solidFill>
            <a:srgbClr val="131B2E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21031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needed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269480" y="2103120"/>
            <a:ext cx="1463040" cy="475488"/>
          </a:xfrm>
          <a:prstGeom prst="rect">
            <a:avLst/>
          </a:prstGeom>
          <a:solidFill>
            <a:srgbClr val="131B2E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69480" y="21031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only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778240" y="2103120"/>
            <a:ext cx="1463040" cy="475488"/>
          </a:xfrm>
          <a:prstGeom prst="rect">
            <a:avLst/>
          </a:prstGeom>
          <a:solidFill>
            <a:srgbClr val="131B2E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78240" y="21031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+ UPS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760720" y="2606040"/>
            <a:ext cx="1463040" cy="475488"/>
          </a:xfrm>
          <a:prstGeom prst="rect">
            <a:avLst/>
          </a:prstGeom>
          <a:solidFill>
            <a:srgbClr val="1A2540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26060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needed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269480" y="2606040"/>
            <a:ext cx="1463040" cy="475488"/>
          </a:xfrm>
          <a:prstGeom prst="rect">
            <a:avLst/>
          </a:prstGeom>
          <a:solidFill>
            <a:srgbClr val="1A2540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69480" y="26060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(LoRa)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778240" y="2606040"/>
            <a:ext cx="1463040" cy="475488"/>
          </a:xfrm>
          <a:prstGeom prst="rect">
            <a:avLst/>
          </a:prstGeom>
          <a:solidFill>
            <a:srgbClr val="1A2540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78240" y="26060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760720" y="3108960"/>
            <a:ext cx="1463040" cy="475488"/>
          </a:xfrm>
          <a:prstGeom prst="rect">
            <a:avLst/>
          </a:prstGeom>
          <a:solidFill>
            <a:srgbClr val="131B2E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0720" y="31089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time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269480" y="3108960"/>
            <a:ext cx="1463040" cy="475488"/>
          </a:xfrm>
          <a:prstGeom prst="rect">
            <a:avLst/>
          </a:prstGeom>
          <a:solidFill>
            <a:srgbClr val="131B2E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69480" y="31089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second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778240" y="3108960"/>
            <a:ext cx="1463040" cy="475488"/>
          </a:xfrm>
          <a:prstGeom prst="rect">
            <a:avLst/>
          </a:prstGeom>
          <a:solidFill>
            <a:srgbClr val="131B2E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778240" y="31089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seconds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760720" y="3611880"/>
            <a:ext cx="1463040" cy="475488"/>
          </a:xfrm>
          <a:prstGeom prst="rect">
            <a:avLst/>
          </a:prstGeom>
          <a:solidFill>
            <a:srgbClr val="1A2540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60720" y="3611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on-device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269480" y="3611880"/>
            <a:ext cx="1463040" cy="475488"/>
          </a:xfrm>
          <a:prstGeom prst="rect">
            <a:avLst/>
          </a:prstGeom>
          <a:solidFill>
            <a:srgbClr val="1A2540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69480" y="3611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(Edge)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8778240" y="3611880"/>
            <a:ext cx="1463040" cy="475488"/>
          </a:xfrm>
          <a:prstGeom prst="rect">
            <a:avLst/>
          </a:prstGeom>
          <a:solidFill>
            <a:srgbClr val="1A2540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778240" y="3611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only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760720" y="4114800"/>
            <a:ext cx="1463040" cy="475488"/>
          </a:xfrm>
          <a:prstGeom prst="rect">
            <a:avLst/>
          </a:prstGeom>
          <a:solidFill>
            <a:srgbClr val="131B2E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760720" y="4114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cost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269480" y="4114800"/>
            <a:ext cx="1463040" cy="475488"/>
          </a:xfrm>
          <a:prstGeom prst="rect">
            <a:avLst/>
          </a:prstGeom>
          <a:solidFill>
            <a:srgbClr val="131B2E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69480" y="4114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8778240" y="4114800"/>
            <a:ext cx="1463040" cy="475488"/>
          </a:xfrm>
          <a:prstGeom prst="rect">
            <a:avLst/>
          </a:prstGeom>
          <a:solidFill>
            <a:srgbClr val="131B2E"/>
          </a:solidFill>
          <a:ln w="635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778240" y="4114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infra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325880"/>
            <a:ext cx="320040" cy="3200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208" y="1645920"/>
            <a:ext cx="0" cy="1005840"/>
          </a:xfrm>
          <a:prstGeom prst="line">
            <a:avLst/>
          </a:prstGeom>
          <a:noFill/>
          <a:ln w="1270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005840"/>
            <a:ext cx="7955280" cy="1188720"/>
          </a:xfrm>
          <a:prstGeom prst="roundRect">
            <a:avLst>
              <a:gd name="adj" fmla="val 9231"/>
            </a:avLst>
          </a:prstGeom>
          <a:solidFill>
            <a:srgbClr val="1A2540"/>
          </a:solidFill>
          <a:ln w="12700">
            <a:solidFill>
              <a:srgbClr val="00C9B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PILOT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54480" y="14630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high-risk section. Validate detection accuracy, LoRa mesh reliability, solar uptime. Integrate with existing Kavach system.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852160" y="1170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km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5216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812280" y="1170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 Lakh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1228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772400" y="1170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Months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65760" y="2651760"/>
            <a:ext cx="320040" cy="3200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1208" y="2971800"/>
            <a:ext cx="0" cy="1005840"/>
          </a:xfrm>
          <a:prstGeom prst="line">
            <a:avLst/>
          </a:prstGeom>
          <a:noFill/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2331720"/>
            <a:ext cx="7955280" cy="1188720"/>
          </a:xfrm>
          <a:prstGeom prst="roundRect">
            <a:avLst>
              <a:gd name="adj" fmla="val 9231"/>
            </a:avLst>
          </a:prstGeom>
          <a:solidFill>
            <a:srgbClr val="1A2540"/>
          </a:solidFill>
          <a:ln w="12700">
            <a:solidFill>
              <a:srgbClr val="FFD166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69748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5448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ZONE ROLLOUT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554480" y="27889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high-risk zones across one railway zone. Full station dashboard deployment. Alert API integration with train control.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5852160" y="2496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 km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852160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812280" y="2496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 Crore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812280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7772400" y="2496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Years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772400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365760" y="3977640"/>
            <a:ext cx="320040" cy="320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68680" y="3657600"/>
            <a:ext cx="7955280" cy="1188720"/>
          </a:xfrm>
          <a:prstGeom prst="roundRect">
            <a:avLst>
              <a:gd name="adj" fmla="val 9231"/>
            </a:avLst>
          </a:prstGeom>
          <a:solidFill>
            <a:srgbClr val="1A254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023360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55448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NATIONAL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1554480" y="411480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Indian Railways network coverage. Predictive analytics layer. Cross-zone data sharing and national safety dashboard.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5852160" y="38221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68,000 km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5852160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6812280" y="38221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₹200 Crore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812280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7772400" y="38221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Years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7772400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365760" y="4754880"/>
            <a:ext cx="8412480" cy="246888"/>
          </a:xfrm>
          <a:prstGeom prst="roundRect">
            <a:avLst>
              <a:gd name="adj" fmla="val 22222"/>
            </a:avLst>
          </a:prstGeom>
          <a:solidFill>
            <a:srgbClr val="131B2E"/>
          </a:solidFill>
          <a:ln w="12700">
            <a:solidFill>
              <a:srgbClr val="8899BB">
                <a:alpha val="30000"/>
              </a:srgbClr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57200" y="475488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Retrofittable alongside existing Kavach/ETCS infrastructure via open APIs — no rip-and-replace required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AT SCALE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full deployment across Indian Railways would mean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A2540"/>
          </a:solidFill>
          <a:ln w="12700">
            <a:solidFill>
              <a:srgbClr val="2ECC7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801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1901952"/>
            <a:ext cx="25146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obstruction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fatalities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A2540"/>
          </a:solidFill>
          <a:ln w="12700">
            <a:solidFill>
              <a:srgbClr val="FFD166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9844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12801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₹200Cr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337560" y="1901952"/>
            <a:ext cx="25146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₹34,000Cr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radar network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(170× savings)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18872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A2540"/>
          </a:solidFill>
          <a:ln w="12700">
            <a:solidFill>
              <a:srgbClr val="00C9B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9844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2801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6217920" y="1901952"/>
            <a:ext cx="25146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power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65760" y="310896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A2540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1868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200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68,000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457200" y="3822192"/>
            <a:ext cx="25146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of Indian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Railways protected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fully deployed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46120" y="310896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A2540"/>
          </a:solidFill>
          <a:ln w="12700">
            <a:solidFill>
              <a:srgbClr val="2ECC7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218688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86200" y="3200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</a:t>
            </a:r>
            <a:endParaRPr lang="en-US" sz="2600" dirty="0"/>
          </a:p>
        </p:txBody>
      </p:sp>
      <p:sp>
        <p:nvSpPr>
          <p:cNvPr id="23" name="Text 16"/>
          <p:cNvSpPr/>
          <p:nvPr/>
        </p:nvSpPr>
        <p:spPr>
          <a:xfrm>
            <a:off x="3337560" y="3822192"/>
            <a:ext cx="25146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Net-zero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(solar powered)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126480" y="310896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A2540"/>
          </a:solidFill>
          <a:ln w="12700">
            <a:solidFill>
              <a:srgbClr val="00C9B1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18688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200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2600" dirty="0"/>
          </a:p>
        </p:txBody>
      </p:sp>
      <p:sp>
        <p:nvSpPr>
          <p:cNvPr id="27" name="Text 19"/>
          <p:cNvSpPr/>
          <p:nvPr/>
        </p:nvSpPr>
        <p:spPr>
          <a:xfrm>
            <a:off x="6217920" y="3822192"/>
            <a:ext cx="25146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trigger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3840480"/>
          </a:xfrm>
          <a:prstGeom prst="roundRect">
            <a:avLst>
              <a:gd name="adj" fmla="val 3333"/>
            </a:avLst>
          </a:prstGeom>
          <a:solidFill>
            <a:srgbClr val="131B2E"/>
          </a:solidFill>
          <a:ln w="19050">
            <a:solidFill>
              <a:srgbClr val="00C9B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🖥️  Simulator (Built)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2540"/>
          </a:solidFill>
          <a:ln w="12700">
            <a:solidFill>
              <a:srgbClr val="00C9B1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18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928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layout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222199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2540"/>
          </a:solidFill>
          <a:ln w="12700">
            <a:solidFill>
              <a:srgbClr val="00C9B1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dark theme + animations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843784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2540"/>
          </a:solidFill>
          <a:ln w="12700">
            <a:solidFill>
              <a:srgbClr val="00C9B1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62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JavaScript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36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simulation logic — no frameworks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465576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2540"/>
          </a:solidFill>
          <a:ln w="12700">
            <a:solidFill>
              <a:srgbClr val="00C9B1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838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581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alarm generation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408736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2540"/>
          </a:solidFill>
          <a:ln w="12700">
            <a:solidFill>
              <a:srgbClr val="00C9B1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05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3799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train animation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114800" cy="3840480"/>
          </a:xfrm>
          <a:prstGeom prst="roundRect">
            <a:avLst>
              <a:gd name="adj" fmla="val 3333"/>
            </a:avLst>
          </a:prstGeom>
          <a:solidFill>
            <a:srgbClr val="131B2E"/>
          </a:solidFill>
          <a:ln w="19050">
            <a:solidFill>
              <a:srgbClr val="FF6B35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 Hardware (Proposed)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60020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2540"/>
          </a:solidFill>
          <a:ln w="12700">
            <a:solidFill>
              <a:srgbClr val="FF6B35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618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18928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MCU with camera module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00600" y="222199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2540"/>
          </a:solidFill>
          <a:ln w="12700">
            <a:solidFill>
              <a:srgbClr val="FF6B35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Micro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514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MobileNetV2 — on-device AI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2843784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2540"/>
          </a:solidFill>
          <a:ln w="12700">
            <a:solidFill>
              <a:srgbClr val="FF6B35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862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SX1278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136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mesh radio (~5km)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3465576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2540"/>
          </a:solidFill>
          <a:ln w="12700">
            <a:solidFill>
              <a:srgbClr val="FF6B35">
                <a:alpha val="3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838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AWS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37581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Core cloud backend + alerts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408736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2540"/>
          </a:solidFill>
          <a:ln w="12700">
            <a:solidFill>
              <a:srgbClr val="FF6B35">
                <a:alpha val="3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105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API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43799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existing safety systems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RAKSHA-NETRA WINS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decisive advantages over every existing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737360"/>
          </a:xfrm>
          <a:prstGeom prst="roundRect">
            <a:avLst>
              <a:gd name="adj" fmla="val 7368"/>
            </a:avLst>
          </a:prstGeom>
          <a:solidFill>
            <a:srgbClr val="1A2540"/>
          </a:solidFill>
          <a:ln w="19050">
            <a:solidFill>
              <a:srgbClr val="FFD166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— No Cloud Needed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3000" y="17373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runs on the node itself. No latency from cloud round-trips. No privacy risk. Works even when internet is unavailable — which it often is in rural India.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4114800" cy="1737360"/>
          </a:xfrm>
          <a:prstGeom prst="roundRect">
            <a:avLst>
              <a:gd name="adj" fmla="val 7368"/>
            </a:avLst>
          </a:prstGeom>
          <a:solidFill>
            <a:srgbClr val="1A2540"/>
          </a:solidFill>
          <a:ln w="19050">
            <a:solidFill>
              <a:srgbClr val="2ECC7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6916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Off-Grid Deployable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0" y="17373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battery powers each node indefinitely. LoRa mesh needs no cellular infrastructure. Deploy anywhere on 68,000 km — including mountain passes, jungle cuts, remote crossings.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5760" y="3108960"/>
            <a:ext cx="4114800" cy="1737360"/>
          </a:xfrm>
          <a:prstGeom prst="roundRect">
            <a:avLst>
              <a:gd name="adj" fmla="val 7368"/>
            </a:avLst>
          </a:prstGeom>
          <a:solidFill>
            <a:srgbClr val="1A2540"/>
          </a:solidFill>
          <a:ln w="19050">
            <a:solidFill>
              <a:srgbClr val="00C9B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118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False Alarms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43000" y="3657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fusion (ultrasonic + PIR + vibration + vision) requires four independent signals before triggering an alert. Rain, birds, and debris are filtered out automatically.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709160" y="3108960"/>
            <a:ext cx="4114800" cy="1737360"/>
          </a:xfrm>
          <a:prstGeom prst="roundRect">
            <a:avLst>
              <a:gd name="adj" fmla="val 7368"/>
            </a:avLst>
          </a:prstGeom>
          <a:solidFill>
            <a:srgbClr val="1A2540"/>
          </a:solidFill>
          <a:ln w="19050">
            <a:solidFill>
              <a:srgbClr val="FF6B35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118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167× Cheaper — At Scale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486400" y="3657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₹36,000/km in production vs ₹50 lakh/km for radar. This is the difference between a ₹34,000 crore unaffordable project and a ₹200 crore achievable national rollout.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0"/>
            <a:ext cx="3200400" cy="3200400"/>
          </a:xfrm>
          <a:prstGeom prst="ellipse">
            <a:avLst/>
          </a:prstGeom>
          <a:solidFill>
            <a:srgbClr val="FF6B35">
              <a:alpha val="8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20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IT. DEPLOY IT. SAVE LIVES.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2084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RAKSHA-NETRA is ready for a pilot. The simulator proves the pipeline works.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2651760"/>
            <a:ext cx="2697480" cy="1920240"/>
          </a:xfrm>
          <a:prstGeom prst="roundRect">
            <a:avLst>
              <a:gd name="adj" fmla="val 7143"/>
            </a:avLst>
          </a:prstGeom>
          <a:solidFill>
            <a:srgbClr val="1A2540"/>
          </a:solidFill>
          <a:ln w="19050">
            <a:solidFill>
              <a:srgbClr val="00C9B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724912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65760" y="35478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Simulator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3977640"/>
            <a:ext cx="2514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HTML file — no setup needed. Place obstacles. Watch the pipeline.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246120" y="2651760"/>
            <a:ext cx="2697480" cy="1920240"/>
          </a:xfrm>
          <a:prstGeom prst="roundRect">
            <a:avLst>
              <a:gd name="adj" fmla="val 7143"/>
            </a:avLst>
          </a:prstGeom>
          <a:solidFill>
            <a:srgbClr val="1A2540"/>
          </a:solidFill>
          <a:ln w="19050">
            <a:solidFill>
              <a:srgbClr val="FF6B35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724912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46120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246120" y="35478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Hardware Prototype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337560" y="3977640"/>
            <a:ext cx="2514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 BOM. ESP32-CAM + LoRa module. TFLite model ready to flash.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126480" y="2651760"/>
            <a:ext cx="2697480" cy="1920240"/>
          </a:xfrm>
          <a:prstGeom prst="roundRect">
            <a:avLst>
              <a:gd name="adj" fmla="val 7143"/>
            </a:avLst>
          </a:prstGeom>
          <a:solidFill>
            <a:srgbClr val="1A2540"/>
          </a:solidFill>
          <a:ln w="19050">
            <a:solidFill>
              <a:srgbClr val="FFD166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272491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26480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6126480" y="35478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50 km Track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217920" y="3977640"/>
            <a:ext cx="2514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Indian Railways. Integrate with Kavach. Measure. Scale.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RAKSHA-NETRA  ·  AI-Powered Track Safety  ·  Solar · LoRa · Edge-AI · &lt;1s Response  ·  ₹36,000/km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1468</Words>
  <Application>Microsoft Office PowerPoint</Application>
  <PresentationFormat>On-screen Show (16:9)</PresentationFormat>
  <Paragraphs>297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Algerian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RAKSHA-NETRA: AI-Powered Railway Safety</dc:title>
  <dc:subject>PptxGenJS Presentation</dc:subject>
  <dc:creator>PptxGenJS</dc:creator>
  <cp:lastModifiedBy>Nagashree Sakthivel</cp:lastModifiedBy>
  <cp:revision>2</cp:revision>
  <dcterms:created xsi:type="dcterms:W3CDTF">2026-06-14T03:52:28Z</dcterms:created>
  <dcterms:modified xsi:type="dcterms:W3CDTF">2026-06-14T04:55:13Z</dcterms:modified>
</cp:coreProperties>
</file>